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08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85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474595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SC4031 · INTERNET OF THINGS · COMM &amp; NETWORKING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095823" y="533363"/>
            <a:ext cx="250637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PAPER ·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762000" y="2286000"/>
            <a:ext cx="17266920" cy="3981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250" kern="0" spc="-394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</a:t>
            </a:r>
            <a:r>
              <a:rPr lang="en-US" sz="11250" i="1" kern="0" spc="-39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Protocols (PAN) 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6000" kern="0" spc="-394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762000" y="7467544"/>
            <a:ext cx="8044815" cy="9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energy, scalability, and security across the Wireless Personal Area Network landscape — from Wi-Fi and BLE to Zigbee, Z-Wave, Thread, and Matter.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8707096"/>
            <a:ext cx="333029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Low Seng Kian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2000" y="8971359"/>
            <a:ext cx="333029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U2321652C · Nanyang Technological University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00977" y="8707096"/>
            <a:ext cx="1825023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· 11 slides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868427" y="8971359"/>
            <a:ext cx="173377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AY2025/26 · Semester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720751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496697" y="533363"/>
            <a:ext cx="3120183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 · EVOLUTION OF CONNECTIVITY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333500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IRON TRIANGLE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754963"/>
            <a:ext cx="14716125" cy="2552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kern="0" spc="-16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isolated gadgets to </a:t>
            </a:r>
            <a:r>
              <a:rPr lang="en-US" sz="6600" i="1" kern="0" spc="-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intelligence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62000" y="4955232"/>
            <a:ext cx="86334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IOT · PROJECTION</a:t>
            </a:r>
            <a:endParaRPr lang="en-US" sz="97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364789"/>
            <a:ext cx="8382000" cy="3884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82260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409353" y="533363"/>
            <a:ext cx="3210146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 · EDGE–FOG–CLOUD HIERARCHY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333500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HIERARCHY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754963"/>
            <a:ext cx="14716125" cy="1409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-13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at the edge, coordination at the fog, </a:t>
            </a:r>
            <a:r>
              <a:rPr lang="en-US" sz="5400" i="1" kern="0" spc="-13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</a:t>
            </a:r>
            <a:r>
              <a:rPr lang="en-US" sz="5400" kern="0" spc="-13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cloud.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762000" y="3507600"/>
            <a:ext cx="5384788" cy="5688769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5800297" y="3704053"/>
            <a:ext cx="22623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0816" y="3856416"/>
            <a:ext cx="4827770" cy="567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kern="0" spc="-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10816" y="4443357"/>
            <a:ext cx="48277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PERCEPTION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10816" y="4852913"/>
            <a:ext cx="4827770" cy="809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sensors and actuators collect environmental data and execute commands. Strictest power budget — runs on coin-cell batteries for years.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10816" y="5852759"/>
            <a:ext cx="4687156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110816" y="6049212"/>
            <a:ext cx="4827770" cy="2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DEVICES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110816" y="6317382"/>
            <a:ext cx="14867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PIR, DHT22, smart relays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10816" y="6540159"/>
            <a:ext cx="161099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motorized blinds, door locks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110816" y="6835490"/>
            <a:ext cx="4827770" cy="2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110816" y="7103659"/>
            <a:ext cx="183795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· Zigbee · Thread · Z-Wave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6451513" y="3507600"/>
            <a:ext cx="5384881" cy="5688769"/>
          </a:xfrm>
          <a:prstGeom prst="rect">
            <a:avLst/>
          </a:prstGeom>
          <a:solidFill>
            <a:srgbClr val="FFFFFF">
              <a:alpha val="65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1489903" y="3704053"/>
            <a:ext cx="22623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00329" y="3856416"/>
            <a:ext cx="4827866" cy="567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kern="0" spc="-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00329" y="4443357"/>
            <a:ext cx="48278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LOCAL COORDINATION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800329" y="4852913"/>
            <a:ext cx="4827866" cy="815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 and border routers bridge WPAN to IP. Guarantees </a:t>
            </a:r>
            <a:r>
              <a:rPr lang="en-US" sz="1350" b="1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survivability </a:t>
            </a: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motion sensor still triggers a light even if the internet drops.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00329" y="5858712"/>
            <a:ext cx="4687249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6800329" y="6055165"/>
            <a:ext cx="4827866" cy="2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DEVICES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800329" y="6323335"/>
            <a:ext cx="128068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Border Router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800329" y="6546112"/>
            <a:ext cx="145974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 coordinator, Hubs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800329" y="6841443"/>
            <a:ext cx="4827866" cy="2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800329" y="7109613"/>
            <a:ext cx="18403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· cache · enforce logic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2141119" y="3507600"/>
            <a:ext cx="5384881" cy="5688769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17179510" y="3704053"/>
            <a:ext cx="22623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489935" y="3856416"/>
            <a:ext cx="4827866" cy="567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kern="0" spc="-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2489935" y="4443357"/>
            <a:ext cx="48278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REMOTE INTELLIGENCE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2489935" y="4852913"/>
            <a:ext cx="4827866" cy="809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storage, advanced analytics, mobile sync. Increasingly a data-layer resource rather than the real-time controller.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2489935" y="5852759"/>
            <a:ext cx="4687249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12489935" y="6049212"/>
            <a:ext cx="4827866" cy="2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WORKLOADS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2489935" y="6317382"/>
            <a:ext cx="135184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/ anomaly detection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2489935" y="6540159"/>
            <a:ext cx="163880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state, mobile apps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2489935" y="6835490"/>
            <a:ext cx="4827866" cy="2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2489935" y="7103659"/>
            <a:ext cx="168000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7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shifts down to the fog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333500" y="9501094"/>
            <a:ext cx="11687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MQTT / HTTPS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8673982" y="9501094"/>
            <a:ext cx="11048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IP · 6LoWPAN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5950468" y="9501094"/>
            <a:ext cx="10802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WPAN RADIO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0745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PROTOCOL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049160" y="533363"/>
            <a:ext cx="155304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3 · IEEE 802.11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203" y="1377553"/>
            <a:ext cx="577379" cy="192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2266" y="1377497"/>
            <a:ext cx="200808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802.11 · 2.4 &amp; 5 GHZ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04820"/>
            <a:ext cx="7282853" cy="90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kern="0" spc="-18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r>
              <a:rPr lang="en-US" sz="3600" kern="0" spc="-18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connectivity baseline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62000" y="3206781"/>
            <a:ext cx="8674562" cy="69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IP support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Wi-Fi's decisive advantage. Smart cameras, speakers, and displays connect directly to the internet — no specialized hub, no translation layer.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4033800"/>
            <a:ext cx="8674562" cy="69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Wi-Fi was engineered for laptops, not leaf nodes. Its </a:t>
            </a:r>
            <a:r>
              <a:rPr lang="en-US" sz="16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duty cycle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always-on radio make it a non-starter for a sensor expected to survive two years on a CR2032.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4994114"/>
            <a:ext cx="8674562" cy="2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Best for: high-bandwidth, mains-powered endpoints (cameras, streaming).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69630" y="3206781"/>
            <a:ext cx="7656370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9869630" y="3412741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1393630" y="3384166"/>
            <a:ext cx="6316341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9.6 Gbps (Wi-Fi 6) — orders of magnitude above WPAN peers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869630" y="3831766"/>
            <a:ext cx="7656370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9869630" y="4037726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1393630" y="4009151"/>
            <a:ext cx="6316341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Star, via access point / router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869630" y="4456751"/>
            <a:ext cx="7656370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9869630" y="4662711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DRAW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1393630" y="4634136"/>
            <a:ext cx="6316341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~200–800 mW active. Incompatible with coin-cell operation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869630" y="5081736"/>
            <a:ext cx="7656370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9869630" y="5287696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STACK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1393630" y="5259121"/>
            <a:ext cx="6316341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TCP/IP natively — no 6LoWPAN translation required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869630" y="6331707"/>
            <a:ext cx="7656370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9869630" y="5706721"/>
            <a:ext cx="7656370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9869630" y="5912681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1393630" y="5884106"/>
            <a:ext cx="6316341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and ears, not nervous system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1582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PROTOCOL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834629" y="533363"/>
            <a:ext cx="277211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4 · BLUETOOTH LOW ENERGY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203" y="1377553"/>
            <a:ext cx="577379" cy="192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2266" y="1377497"/>
            <a:ext cx="208472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SIG · 2.4 GHZ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04820"/>
            <a:ext cx="6590544" cy="90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kern="0" spc="-18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</a:t>
            </a:r>
            <a:r>
              <a:rPr lang="en-US" sz="3600" kern="0" spc="-18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efficiency specialist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62000" y="3416257"/>
            <a:ext cx="7885965" cy="1018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spends up to </a:t>
            </a:r>
            <a:r>
              <a:rPr lang="en-US" sz="16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its life in deep sleep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waking for 1–3 ms bursts to exchange tiny payloads. This is why your temperature sensor lasts two years on a coin cell.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4606137"/>
            <a:ext cx="7885965" cy="69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Historically trapped in a room-scale </a:t>
            </a:r>
            <a:r>
              <a:rPr lang="en-US" sz="1650" b="1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topology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BLE Mesh and its role as the </a:t>
            </a:r>
            <a:r>
              <a:rPr lang="en-US" sz="1650" b="1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 fabric for Matter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indispensable for modern onboarding.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5648678"/>
            <a:ext cx="78859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CYCLE · TYPICAL SENSOR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62000" y="5924848"/>
            <a:ext cx="7656277" cy="507132"/>
          </a:xfrm>
          <a:prstGeom prst="rect">
            <a:avLst/>
          </a:prstGeom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767953" y="5930801"/>
            <a:ext cx="7567910" cy="495226"/>
          </a:xfrm>
          <a:prstGeom prst="rect">
            <a:avLst/>
          </a:prstGeom>
          <a:solidFill>
            <a:srgbClr val="EAE4D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67953" y="5930801"/>
            <a:ext cx="7794947" cy="5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SLEEP · 99%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6508161"/>
            <a:ext cx="336835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014363" y="6508161"/>
            <a:ext cx="1480114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· 1–3 ms burst 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104002" y="3206781"/>
            <a:ext cx="867465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kern="0" spc="-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r>
              <a:rPr lang="en-US" sz="6000" kern="0" spc="-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9" name="Text 17"/>
          <p:cNvSpPr/>
          <p:nvPr/>
        </p:nvSpPr>
        <p:spPr>
          <a:xfrm>
            <a:off x="9104002" y="4997462"/>
            <a:ext cx="39243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OPERATIONAL TIME SPENT IN DEEP SLEEP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4002" y="7329785"/>
            <a:ext cx="8421998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9104002" y="5685606"/>
            <a:ext cx="8421998" cy="9525"/>
          </a:xfrm>
          <a:prstGeom prst="rect">
            <a:avLst/>
          </a:prstGeom>
          <a:solidFill>
            <a:srgbClr val="1A191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11203502" y="5691560"/>
            <a:ext cx="9525" cy="1638226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9104002" y="5958241"/>
            <a:ext cx="194715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04002" y="6222504"/>
            <a:ext cx="1947156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2100" kern="0" spc="-9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9104002" y="6908323"/>
            <a:ext cx="194715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sight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309048" y="5691560"/>
            <a:ext cx="9525" cy="1638226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11209455" y="5958241"/>
            <a:ext cx="194724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09455" y="6222504"/>
            <a:ext cx="1947249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kern="0" spc="-9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Mbps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1209455" y="6908323"/>
            <a:ext cx="194724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LE coded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5414501" y="5691560"/>
            <a:ext cx="9525" cy="1638226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13315001" y="5958241"/>
            <a:ext cx="194715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315001" y="6393954"/>
            <a:ext cx="1947156" cy="3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-4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/ Mesh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315001" y="6736798"/>
            <a:ext cx="194715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5.0+ mesh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420454" y="5958241"/>
            <a:ext cx="218174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420454" y="6393954"/>
            <a:ext cx="2181746" cy="3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-4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5420454" y="6736798"/>
            <a:ext cx="218174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onboarding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24199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PROTOCOL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905262" y="533363"/>
            <a:ext cx="169693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5 · ZIGBEE · ZCL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203" y="1377553"/>
            <a:ext cx="577379" cy="192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2266" y="1377497"/>
            <a:ext cx="246247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802.15.4 · 2.4 GHZ · MESH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04820"/>
            <a:ext cx="6473370" cy="90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kern="0" spc="-18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</a:t>
            </a:r>
            <a:r>
              <a:rPr lang="en-US" sz="3600" kern="0" spc="-18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mesh &amp; the ZCL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62000" y="3206781"/>
            <a:ext cx="75275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TOPOLOGY</a:t>
            </a:r>
            <a:endParaRPr lang="en-US" sz="97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21087"/>
            <a:ext cx="7308298" cy="67235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56024" y="3206781"/>
            <a:ext cx="9032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 CLUSTER LIBRARY · ZCL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756024" y="3521087"/>
            <a:ext cx="9032980" cy="69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Zigbee's quiet superpower isn't the radio — it's the </a:t>
            </a:r>
            <a:r>
              <a:rPr lang="en-US" sz="16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vocabulary at the application layer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8756024" y="4411173"/>
            <a:ext cx="2847082" cy="578476"/>
          </a:xfrm>
          <a:prstGeom prst="rect">
            <a:avLst/>
          </a:prstGeom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/>
          <p:nvPr/>
        </p:nvSpPr>
        <p:spPr>
          <a:xfrm>
            <a:off x="8914340" y="4550420"/>
            <a:ext cx="26066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0x0006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914340" y="4695620"/>
            <a:ext cx="260665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/ Off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1717331" y="4411173"/>
            <a:ext cx="2847175" cy="578476"/>
          </a:xfrm>
          <a:prstGeom prst="rect">
            <a:avLst/>
          </a:prstGeom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5"/>
          <p:cNvSpPr/>
          <p:nvPr/>
        </p:nvSpPr>
        <p:spPr>
          <a:xfrm>
            <a:off x="11875647" y="4550420"/>
            <a:ext cx="260674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0x0008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875647" y="4695620"/>
            <a:ext cx="260674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Control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678732" y="4411173"/>
            <a:ext cx="2847082" cy="578476"/>
          </a:xfrm>
          <a:prstGeom prst="rect">
            <a:avLst/>
          </a:prstGeom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8"/>
          <p:cNvSpPr/>
          <p:nvPr/>
        </p:nvSpPr>
        <p:spPr>
          <a:xfrm>
            <a:off x="14837048" y="4550420"/>
            <a:ext cx="26066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0x0300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4837048" y="4695620"/>
            <a:ext cx="260665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Control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756024" y="5103875"/>
            <a:ext cx="2847082" cy="578476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1"/>
          <p:cNvSpPr/>
          <p:nvPr/>
        </p:nvSpPr>
        <p:spPr>
          <a:xfrm>
            <a:off x="8914340" y="5243122"/>
            <a:ext cx="26066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0x0402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914340" y="5388322"/>
            <a:ext cx="260665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1717331" y="5103875"/>
            <a:ext cx="2847175" cy="578476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4"/>
          <p:cNvSpPr/>
          <p:nvPr/>
        </p:nvSpPr>
        <p:spPr>
          <a:xfrm>
            <a:off x="11875647" y="5243122"/>
            <a:ext cx="260674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0x0500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875647" y="5388322"/>
            <a:ext cx="260674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IAS Zone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4678732" y="5103875"/>
            <a:ext cx="2847082" cy="578476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7"/>
          <p:cNvSpPr/>
          <p:nvPr/>
        </p:nvSpPr>
        <p:spPr>
          <a:xfrm>
            <a:off x="14837048" y="5243122"/>
            <a:ext cx="26066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0x0702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4837048" y="5388322"/>
            <a:ext cx="260665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756024" y="5949032"/>
            <a:ext cx="9032980" cy="599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</a:t>
            </a:r>
            <a:r>
              <a:rPr lang="en-US" sz="1425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</a:t>
            </a:r>
            <a:r>
              <a:rPr lang="en-US" sz="142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command — cluster </a:t>
            </a:r>
            <a:r>
              <a:rPr lang="en-US" sz="14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0x0006</a:t>
            </a:r>
            <a:r>
              <a:rPr lang="en-US" sz="142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command </a:t>
            </a:r>
            <a:r>
              <a:rPr lang="en-US" sz="14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0x01 </a:t>
            </a:r>
            <a:r>
              <a:rPr lang="en-US" sz="1425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is understood identically by a Philips bulb, an IKEA plug, and a Sonoff switch. Interoperability moves from the radio to the app layer.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24199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PROTOCOL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466219" y="533363"/>
            <a:ext cx="2135981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6 · Z-WAVE · SUB-GHZ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203" y="1377553"/>
            <a:ext cx="577379" cy="192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2266" y="1377497"/>
            <a:ext cx="226285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ITU-T G.9959 · 868 / 908 MHZ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04820"/>
            <a:ext cx="8261629" cy="90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kern="0" spc="-18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Z-Wave</a:t>
            </a:r>
            <a:r>
              <a:rPr lang="en-US" sz="3600" kern="0" spc="-18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sub-GHz advantage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62000" y="3416257"/>
            <a:ext cx="8280311" cy="69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frequency means </a:t>
            </a:r>
            <a:r>
              <a:rPr lang="en-US" sz="16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wavelength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wavelength decides how much of your signal survives a concrete wall.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4281320"/>
            <a:ext cx="8280311" cy="1012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at 868/908 MHz gives Z-Wave superior indoor range and near-zero interference from the chaos of the 2.4 GHz band already shared by Wi-Fi, Bluetooth, and Zigbee.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62000" y="7280951"/>
            <a:ext cx="8039137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762000" y="5636772"/>
            <a:ext cx="8039137" cy="9525"/>
          </a:xfrm>
          <a:prstGeom prst="rect">
            <a:avLst/>
          </a:prstGeom>
          <a:solidFill>
            <a:srgbClr val="1A191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2765785" y="5642725"/>
            <a:ext cx="9525" cy="1638226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62000" y="5909407"/>
            <a:ext cx="185144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6173670"/>
            <a:ext cx="1851440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908</a:t>
            </a:r>
            <a:r>
              <a:rPr lang="en-US" sz="2100" kern="0" spc="-9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MHz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62000" y="6859488"/>
            <a:ext cx="185144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ISM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5615" y="5642725"/>
            <a:ext cx="9525" cy="1638226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2771738" y="5909407"/>
            <a:ext cx="185153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71738" y="6173670"/>
            <a:ext cx="1851533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r>
              <a:rPr lang="en-US" sz="2100" kern="0" spc="-9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kbps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2771738" y="6859488"/>
            <a:ext cx="185153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85353" y="5642725"/>
            <a:ext cx="9525" cy="1638226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781569" y="5909407"/>
            <a:ext cx="185144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81569" y="6173670"/>
            <a:ext cx="1851440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r>
              <a:rPr lang="en-US" sz="2100" kern="0" spc="-9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781569" y="6859488"/>
            <a:ext cx="185144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air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91306" y="5909407"/>
            <a:ext cx="208603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91306" y="6173670"/>
            <a:ext cx="2086031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6791306" y="6859488"/>
            <a:ext cx="208603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network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86863" y="3206781"/>
            <a:ext cx="82803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PENETRATION · Λ COMPARISON</a:t>
            </a:r>
            <a:endParaRPr lang="en-US" sz="975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863" y="3521087"/>
            <a:ext cx="8039137" cy="6550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1582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PROTOCOL 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732621" y="533363"/>
            <a:ext cx="1869579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7 · THREAD · DTLS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203" y="1377553"/>
            <a:ext cx="577379" cy="192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2266" y="1377497"/>
            <a:ext cx="250461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802.15.4 · IPV6 · 6LOWPAN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04820"/>
            <a:ext cx="7378949" cy="90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kern="0" spc="-18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</a:t>
            </a:r>
            <a:r>
              <a:rPr lang="en-US" sz="3600" kern="0" spc="-18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IPv6-native &amp; secure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62000" y="3416257"/>
            <a:ext cx="8280311" cy="69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gets its own IPv6 address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6LoWPAN. A door sensor is reachable end-to-end from the cloud — no hub translation, no proprietary gateway.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4281320"/>
            <a:ext cx="8280311" cy="1018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Thread runs over UDP, security cannot depend on TCP. </a:t>
            </a:r>
            <a:r>
              <a:rPr lang="en-US" sz="16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DTLS </a:t>
            </a:r>
            <a:r>
              <a:rPr lang="en-US" sz="16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its own sequence numbers and retransmission timers to deliver a reliable, bank-grade handshake over an unreliable transport.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15566" y="5781880"/>
            <a:ext cx="77579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DTLS HANDSHAKE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15566" y="6000936"/>
            <a:ext cx="7757966" cy="1304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0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ClientHello → </a:t>
            </a:r>
            <a:r>
              <a:rPr lang="en-US" sz="105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</a:t>
            </a:r>
            <a:r>
              <a:rPr lang="en-US" sz="10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HelloVerifyRequest ← </a:t>
            </a:r>
            <a:r>
              <a:rPr lang="en-US" sz="105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replay-proof </a:t>
            </a:r>
            <a:r>
              <a:rPr lang="en-US" sz="10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ClientHello + Cookie → </a:t>
            </a:r>
            <a:r>
              <a:rPr lang="en-US" sz="105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# </a:t>
            </a:r>
            <a:r>
              <a:rPr lang="en-US" sz="10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Certificate, KeyExchange ⇄ </a:t>
            </a:r>
            <a:r>
              <a:rPr lang="en-US" sz="1050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AEAD </a:t>
            </a:r>
            <a:r>
              <a:rPr lang="en-US" sz="10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⇄ 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channel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486863" y="3206781"/>
            <a:ext cx="82803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PROTOCOL STACK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486863" y="3521087"/>
            <a:ext cx="8039137" cy="738094"/>
          </a:xfrm>
          <a:prstGeom prst="rect">
            <a:avLst/>
          </a:prstGeom>
          <a:solidFill>
            <a:srgbClr val="FFFFFF">
              <a:alpha val="60000"/>
            </a:srgbClr>
          </a:solidFill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9702292" y="3698472"/>
            <a:ext cx="1269057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702292" y="3861532"/>
            <a:ext cx="1269057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CoAP / Matter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886597" y="3761538"/>
            <a:ext cx="423974" cy="257101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17025900" y="3824641"/>
            <a:ext cx="221568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02292" y="4474611"/>
            <a:ext cx="2299413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702292" y="4637670"/>
            <a:ext cx="2299413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DTLS 1.2 · AES-128-CCM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954035" y="4534700"/>
            <a:ext cx="356536" cy="26305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17093338" y="4597803"/>
            <a:ext cx="154130" cy="174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486863" y="5073365"/>
            <a:ext cx="8039137" cy="738094"/>
          </a:xfrm>
          <a:prstGeom prst="rect">
            <a:avLst/>
          </a:prstGeom>
          <a:solidFill>
            <a:srgbClr val="FFFFFF">
              <a:alpha val="60000"/>
            </a:srgbClr>
          </a:solidFill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9702292" y="5250749"/>
            <a:ext cx="814760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9702292" y="5413809"/>
            <a:ext cx="814760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6886597" y="5313815"/>
            <a:ext cx="423974" cy="257101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17025900" y="5376918"/>
            <a:ext cx="221568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86863" y="5849503"/>
            <a:ext cx="8039137" cy="738094"/>
          </a:xfrm>
          <a:prstGeom prst="rect">
            <a:avLst/>
          </a:prstGeom>
          <a:solidFill>
            <a:srgbClr val="FFFFFF">
              <a:alpha val="60000"/>
            </a:srgbClr>
          </a:solidFill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9702292" y="6026888"/>
            <a:ext cx="2041754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702292" y="6189948"/>
            <a:ext cx="2041754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· 6LoWPAN · RPL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6886597" y="6089954"/>
            <a:ext cx="423974" cy="257101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17025900" y="6153057"/>
            <a:ext cx="221568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486863" y="6625642"/>
            <a:ext cx="8039137" cy="738094"/>
          </a:xfrm>
          <a:prstGeom prst="rect">
            <a:avLst/>
          </a:prstGeom>
          <a:solidFill>
            <a:srgbClr val="FFFFFF">
              <a:alpha val="60000"/>
            </a:srgbClr>
          </a:solidFill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9702292" y="6803027"/>
            <a:ext cx="2172816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/ PHY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9702292" y="6966086"/>
            <a:ext cx="2172816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802.15.4 · 2.4 GHz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6773023" y="6866093"/>
            <a:ext cx="537549" cy="257101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16912326" y="6929196"/>
            <a:ext cx="335142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55173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225675" y="533363"/>
            <a:ext cx="237652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8 · TRADE-OFF SURFACE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333500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SURFACE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754963"/>
            <a:ext cx="14716125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10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protocol wins — each dominates </a:t>
            </a:r>
            <a:r>
              <a:rPr lang="en-US" sz="4200" i="1" kern="0" spc="-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axis</a:t>
            </a:r>
            <a:r>
              <a:rPr lang="en-US" sz="4200" kern="0" spc="-105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762000" y="2897870"/>
            <a:ext cx="8461809" cy="6274742"/>
          </a:xfrm>
          <a:prstGeom prst="rect">
            <a:avLst/>
          </a:prstGeom>
          <a:solidFill>
            <a:srgbClr val="FFFFFF">
              <a:alpha val="40000"/>
            </a:srgbClr>
          </a:solidFill>
          <a:ln w="5953">
            <a:solidFill>
              <a:srgbClr val="C9C0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/>
          <p:nvPr/>
        </p:nvSpPr>
        <p:spPr>
          <a:xfrm>
            <a:off x="9833353" y="2897870"/>
            <a:ext cx="79234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BY AXIS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9833353" y="3231245"/>
            <a:ext cx="7692647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/>
          <p:nvPr/>
        </p:nvSpPr>
        <p:spPr>
          <a:xfrm>
            <a:off x="9833353" y="3437204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SPEED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1357353" y="3408629"/>
            <a:ext cx="6353706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</a:t>
            </a: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gigabit throughput, at a cost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833353" y="3856230"/>
            <a:ext cx="7692647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/>
          <p:nvPr/>
        </p:nvSpPr>
        <p:spPr>
          <a:xfrm>
            <a:off x="9833353" y="4062189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RANGE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1357353" y="4033614"/>
            <a:ext cx="6353706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Z-Wave </a:t>
            </a: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sub-GHz, penetrates walls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833353" y="4481215"/>
            <a:ext cx="7692647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9833353" y="4687174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POWER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1357353" y="4658599"/>
            <a:ext cx="6353706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</a:t>
            </a: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99% deep sleep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833353" y="5106200"/>
            <a:ext cx="7692647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19"/>
          <p:cNvSpPr/>
          <p:nvPr/>
        </p:nvSpPr>
        <p:spPr>
          <a:xfrm>
            <a:off x="9833353" y="5312159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SCALE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11357353" y="5283584"/>
            <a:ext cx="6353706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 / Thread </a:t>
            </a: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thousands of nodes per mesh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833353" y="6356170"/>
            <a:ext cx="7692647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Shape 22"/>
          <p:cNvSpPr/>
          <p:nvPr/>
        </p:nvSpPr>
        <p:spPr>
          <a:xfrm>
            <a:off x="9833353" y="5731185"/>
            <a:ext cx="7692647" cy="9525"/>
          </a:xfrm>
          <a:prstGeom prst="rect">
            <a:avLst/>
          </a:prstGeom>
          <a:solidFill>
            <a:srgbClr val="D9D1B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3"/>
          <p:cNvSpPr/>
          <p:nvPr/>
        </p:nvSpPr>
        <p:spPr>
          <a:xfrm>
            <a:off x="9833353" y="5937145"/>
            <a:ext cx="1409700" cy="285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INTEROP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11357353" y="5908570"/>
            <a:ext cx="6353706" cy="314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</a:t>
            </a:r>
            <a:r>
              <a:rPr lang="en-US" sz="15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IPv6-native, Matter-ready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098863" y="6914536"/>
            <a:ext cx="7410267" cy="609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 is never "which protocol wins" — it is "which constraint matters most for this device?"</a:t>
            </a:r>
            <a:endParaRPr lang="en-US" sz="15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DF82FC-93D7-CF37-5207-245712678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140728" y="1995217"/>
            <a:ext cx="5767243" cy="8239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587364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THE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156470" y="533363"/>
            <a:ext cx="244573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9 &amp; 10 · MATTER · HYBRID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18049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IoT Protocols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81376" y="9675037"/>
            <a:ext cx="52082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333500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 FUTURE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754963"/>
            <a:ext cx="14716125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kern="0" spc="-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</a:t>
            </a:r>
            <a:r>
              <a:rPr lang="en-US" sz="4800" kern="0" spc="-12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replace radios. It unifies them.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762000" y="2897963"/>
            <a:ext cx="16764000" cy="6222132"/>
          </a:xfrm>
          <a:prstGeom prst="rect">
            <a:avLst/>
          </a:prstGeom>
          <a:solidFill>
            <a:srgbClr val="FFFFFF">
              <a:alpha val="50000"/>
            </a:srgbClr>
          </a:solidFill>
          <a:ln w="5953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7759666" y="3322960"/>
            <a:ext cx="2768668" cy="1376102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8146563" y="3538389"/>
            <a:ext cx="1994874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kern="0" spc="12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8146563" y="3701448"/>
            <a:ext cx="1994874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200" kern="0" spc="-8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146563" y="4352665"/>
            <a:ext cx="199487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data model · certified interop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9453" y="6852233"/>
            <a:ext cx="4949000" cy="9525"/>
          </a:xfrm>
          <a:prstGeom prst="rect">
            <a:avLst/>
          </a:prstGeom>
          <a:solidFill>
            <a:srgbClr val="1A191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339453" y="7086730"/>
            <a:ext cx="50974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&amp; EARS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339453" y="7324855"/>
            <a:ext cx="5097470" cy="520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kern="0" spc="-6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339453" y="7921284"/>
            <a:ext cx="5097470" cy="266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High-bandwidth — cameras, displays, streaming. Mains-powered nodes.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9453" y="7098636"/>
            <a:ext cx="50974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NERVOUS SYSTEM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669453" y="7336761"/>
            <a:ext cx="5097470" cy="520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kern="0" spc="-6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</a:t>
            </a:r>
            <a:r>
              <a:rPr lang="en-US" sz="3300" kern="0" spc="-66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Zigbee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6669453" y="7933190"/>
            <a:ext cx="5097470" cy="495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Low-power mesh — sensors, switches, locks. Runs for years on a coin cell.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999454" y="6852233"/>
            <a:ext cx="4949000" cy="9525"/>
          </a:xfrm>
          <a:prstGeom prst="rect">
            <a:avLst/>
          </a:prstGeom>
          <a:solidFill>
            <a:srgbClr val="1A191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11999454" y="7086730"/>
            <a:ext cx="50974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1999454" y="7324855"/>
            <a:ext cx="5097470" cy="520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kern="0" spc="-66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999454" y="7921284"/>
            <a:ext cx="5097470" cy="495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 channel — phone-to-device handshake before device joins the mesh.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53" y="2903916"/>
            <a:ext cx="16751815" cy="51397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63"/>
            <a:ext cx="164112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584755" y="533363"/>
            <a:ext cx="1017445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914363"/>
            <a:ext cx="16764000" cy="9525"/>
          </a:xfrm>
          <a:prstGeom prst="rect">
            <a:avLst/>
          </a:prstGeom>
          <a:solidFill>
            <a:srgbClr val="C9C0A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62000" y="9675037"/>
            <a:ext cx="255725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Low · U2321652C · SC4031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91236" y="9675037"/>
            <a:ext cx="51096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52" dirty="0">
                <a:solidFill>
                  <a:srgbClr val="8A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333500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754963"/>
            <a:ext cx="15697200" cy="5014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250" kern="0" spc="-247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IoT landscape remains fragmented — but convergence on </a:t>
            </a:r>
            <a:r>
              <a:rPr lang="en-US" sz="8250" i="1" kern="0" spc="-24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IP-based standards </a:t>
            </a:r>
            <a:r>
              <a:rPr lang="en-US" sz="8250" kern="0" spc="-247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8250" i="1" kern="0" spc="-24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 </a:t>
            </a:r>
            <a:r>
              <a:rPr lang="en-US" sz="8250" kern="0" spc="-247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building a more resilient smart home.</a:t>
            </a:r>
            <a:endParaRPr lang="en-US" sz="8250" dirty="0"/>
          </a:p>
        </p:txBody>
      </p:sp>
      <p:sp>
        <p:nvSpPr>
          <p:cNvPr id="9" name="Shape 7"/>
          <p:cNvSpPr/>
          <p:nvPr/>
        </p:nvSpPr>
        <p:spPr>
          <a:xfrm>
            <a:off x="762000" y="7680833"/>
            <a:ext cx="16764000" cy="9525"/>
          </a:xfrm>
          <a:prstGeom prst="rect">
            <a:avLst/>
          </a:prstGeom>
          <a:solidFill>
            <a:srgbClr val="1A191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762000" y="7991512"/>
            <a:ext cx="5494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UNIFY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8229637"/>
            <a:ext cx="5494020" cy="304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harmonizes the application layer across radios.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7000" y="7991512"/>
            <a:ext cx="5494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DECENTRALIZE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477000" y="8229637"/>
            <a:ext cx="5494020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Fog-layer control ensures local survivability when the cloud is gone.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192000" y="7991512"/>
            <a:ext cx="5494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SECURE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192000" y="8229637"/>
            <a:ext cx="5494020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+ DTLS bring bank-grade encryption down to the leaf node.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1226</Words>
  <Application>Microsoft Office PowerPoint</Application>
  <PresentationFormat>Custom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#JONATHAN LOW SENG KIAN#</cp:lastModifiedBy>
  <cp:revision>4</cp:revision>
  <dcterms:created xsi:type="dcterms:W3CDTF">2026-04-22T14:16:19Z</dcterms:created>
  <dcterms:modified xsi:type="dcterms:W3CDTF">2026-04-22T19:16:57Z</dcterms:modified>
</cp:coreProperties>
</file>